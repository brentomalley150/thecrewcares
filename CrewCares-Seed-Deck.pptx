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8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103120"/>
            <a:ext cx="1280160" cy="12801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3317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2148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2926080" y="3154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Caregiving coordination, reimagined.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188720" y="4114800"/>
            <a:ext cx="4114800" cy="0"/>
          </a:xfrm>
          <a:prstGeom prst="line">
            <a:avLst/>
          </a:prstGeom>
          <a:noFill/>
          <a:ln w="25400">
            <a:solidFill>
              <a:srgbClr val="E9979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April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5486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O'Malley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brent@crewcares.com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million people coordinate care via group text.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chaos — and it's invisible.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3657600" cy="2560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651760"/>
            <a:ext cx="3657600" cy="73152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80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family caregivers in the 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AARP / NAC,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2651760"/>
            <a:ext cx="3657600" cy="2560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2651760"/>
            <a:ext cx="3657600" cy="73152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880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$600B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4572000" y="4114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care value per year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2651760"/>
            <a:ext cx="3657600" cy="2560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651760"/>
            <a:ext cx="3657600" cy="73152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880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8503920" y="4114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group text or email only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Survey 2024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9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algn="ctr"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spent more time figuring out who was doing what than actually caring for Dad.</a:t>
            </a:r>
            <a:pPr algn="ctr" indent="0" marL="0">
              <a:buNone/>
            </a:pPr>
            <a:r>
              <a:rPr lang="en-US" sz="2800" dirty="0">
                <a:solidFill>
                  <a:srgbClr val="E9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in 2026.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baby boomers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Americans turn 65 every day. Their adult children are the first generation caregiving while working full-time.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517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inflection point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6344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finally reliable enough to parse natural language into real actions. Coordination tasks that needed humans now don't.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21040" y="192024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9536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6517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moving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59536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Village shipped an AI assistant ("Julia") in late 2025. Category is shifting from community tools to agentic tools.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treat caregiving like a medical records problem.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don't want Epic. They want a group text that gets things done.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486400" cy="35661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560320"/>
            <a:ext cx="73152" cy="3566160"/>
          </a:xfrm>
          <a:prstGeom prst="rect">
            <a:avLst/>
          </a:prstGeom>
          <a:solidFill>
            <a:srgbClr val="99355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VILLAGE / LOTSA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pretending to be a family app.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Feature-dense clinical dashboard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logs, care plans, documents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desktop-first 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professional caregivers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560320"/>
            <a:ext cx="5486400" cy="3566160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2560320"/>
            <a:ext cx="73152" cy="3566160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5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app that happens to coordinate care.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6118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Chat-first, mobile-native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coordination as the core loop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friction, not the family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siblings, not the nurse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Crew, tasks, calendar, chat. One focused set of tools.</a:t>
            </a:r>
            <a:endParaRPr lang="en-US" sz="1800" dirty="0"/>
          </a:p>
        </p:txBody>
      </p:sp>
      <p:pic>
        <p:nvPicPr>
          <p:cNvPr id="4" name="Image 0" descr="/home/claude/deck/phon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377440" cy="4572000"/>
          </a:xfrm>
          <a:prstGeom prst="rect">
            <a:avLst/>
          </a:prstGeom>
        </p:spPr>
      </p:pic>
      <p:pic>
        <p:nvPicPr>
          <p:cNvPr id="5" name="Image 1" descr="/home/claude/deck/phone-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28800"/>
            <a:ext cx="2377440" cy="4572000"/>
          </a:xfrm>
          <a:prstGeom prst="rect">
            <a:avLst/>
          </a:prstGeom>
        </p:spPr>
      </p:pic>
      <p:pic>
        <p:nvPicPr>
          <p:cNvPr id="6" name="Image 2" descr="/home/claude/deck/phone-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28800"/>
            <a:ext cx="2377440" cy="45720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103120"/>
            <a:ext cx="365760" cy="3657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5554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955548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care overview</a:t>
            </a:r>
            <a:endParaRPr lang="en-US" sz="12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063240"/>
            <a:ext cx="365760" cy="3657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5554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955548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Family-first, not a bolt-on</a:t>
            </a:r>
            <a:endParaRPr lang="en-US" sz="12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4023360"/>
            <a:ext cx="365760" cy="3657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55548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955548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doing what, when</a:t>
            </a:r>
            <a:endParaRPr lang="en-US" sz="1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4983480"/>
            <a:ext cx="365760" cy="36576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55548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9555480" y="5330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Appointments, shared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4A7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Kira.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care coordinator living on the home screen.</a:t>
            </a:r>
            <a:endParaRPr lang="en-US" sz="2000" dirty="0"/>
          </a:p>
        </p:txBody>
      </p:sp>
      <p:pic>
        <p:nvPicPr>
          <p:cNvPr id="5" name="Image 0" descr="/home/claude/deck/phon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280160"/>
            <a:ext cx="292608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2377440"/>
            <a:ext cx="411480" cy="411480"/>
          </a:xfrm>
          <a:prstGeom prst="ellipse">
            <a:avLst/>
          </a:prstGeom>
          <a:solidFill>
            <a:srgbClr val="EAF3D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not hidden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2788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input on the home screen, not a separate tab. Becomes the default way to do anything.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EAF3D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703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things, not just answers them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4206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gives advice. Kira creates tasks, schedules events, books services, posts to chat.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5212080"/>
            <a:ext cx="411480" cy="411480"/>
          </a:xfrm>
          <a:prstGeom prst="ellipse">
            <a:avLst/>
          </a:prstGeom>
          <a:solidFill>
            <a:srgbClr val="EAF3D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80160" y="5120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the whole crew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5623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Kira action posts a note in crew chat. Transparent, coordinated, trustworthy.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loop: need → pro → completion → crew.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finds the pro. Mike installs the grab bar. The photo lands in crew chat. Kira logs the expense. Nobody sends a text.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114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</a:t>
            </a:r>
            <a:endParaRPr lang="en-US" sz="1400" dirty="0"/>
          </a:p>
        </p:txBody>
      </p:sp>
      <p:pic>
        <p:nvPicPr>
          <p:cNvPr id="6" name="Image 0" descr="/home/claude/deck/phone-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237744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126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local pros surfaced by Kira after PT's safety note.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783080"/>
            <a:ext cx="3657600" cy="4114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Book</a:t>
            </a:r>
            <a:endParaRPr lang="en-US" sz="1400" dirty="0"/>
          </a:p>
        </p:txBody>
      </p:sp>
      <p:pic>
        <p:nvPicPr>
          <p:cNvPr id="10" name="Image 1" descr="/home/claude/deck/phone-booking-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31720"/>
            <a:ext cx="2377440" cy="3657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6126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book. Crew gets notified with a 4-hour objection window.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321040" y="1783080"/>
            <a:ext cx="3657600" cy="4114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Text 9"/>
          <p:cNvSpPr/>
          <p:nvPr/>
        </p:nvSpPr>
        <p:spPr>
          <a:xfrm>
            <a:off x="832104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Close the loop</a:t>
            </a:r>
            <a:endParaRPr lang="en-US" sz="1400" dirty="0"/>
          </a:p>
        </p:txBody>
      </p:sp>
      <p:pic>
        <p:nvPicPr>
          <p:cNvPr id="14" name="Image 2" descr="/home/claude/deck/phone-chat-comple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331720"/>
            <a:ext cx="2377440" cy="3657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58200" y="6126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sends photo to crew chat. Kira marks task done, logs $289.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is the product, not a feature. Everything else is an expression of 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74920" y="2971800"/>
            <a:ext cx="2011680" cy="2011680"/>
          </a:xfrm>
          <a:prstGeom prst="ellipse">
            <a:avLst/>
          </a:prstGeom>
          <a:solidFill>
            <a:srgbClr val="64A70B"/>
          </a:solidFill>
          <a:ln/>
        </p:spPr>
      </p:sp>
      <p:sp>
        <p:nvSpPr>
          <p:cNvPr id="5" name="Text 3"/>
          <p:cNvSpPr/>
          <p:nvPr/>
        </p:nvSpPr>
        <p:spPr>
          <a:xfrm>
            <a:off x="507492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49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 coordinator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2331720"/>
            <a:ext cx="2377440" cy="1280160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2331720"/>
            <a:ext cx="2377440" cy="54864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events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299008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natural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52560" y="2331720"/>
            <a:ext cx="2377440" cy="1280160"/>
          </a:xfrm>
          <a:prstGeom prst="rect">
            <a:avLst/>
          </a:prstGeom>
          <a:solidFill>
            <a:srgbClr val="FEF3E3"/>
          </a:solidFill>
          <a:ln/>
        </p:spPr>
      </p:sp>
      <p:sp>
        <p:nvSpPr>
          <p:cNvPr id="13" name="Shape 11"/>
          <p:cNvSpPr/>
          <p:nvPr/>
        </p:nvSpPr>
        <p:spPr>
          <a:xfrm>
            <a:off x="9052560" y="2331720"/>
            <a:ext cx="2377440" cy="5486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9720" y="299008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commerce, context-driven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4572000"/>
            <a:ext cx="2377440" cy="128016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4572000"/>
            <a:ext cx="2377440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4754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52303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Thumbtack booking + completion photos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4572000"/>
            <a:ext cx="2377440" cy="128016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4572000"/>
            <a:ext cx="2377440" cy="54864"/>
          </a:xfrm>
          <a:prstGeom prst="rect">
            <a:avLst/>
          </a:prstGeom>
          <a:solidFill>
            <a:srgbClr val="E99797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4754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9720" y="52303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Catch-up for absent crew members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bolt an AI assistant onto a feature-dense app. </a:t>
            </a:r>
            <a:pPr algn="ctr" indent="0" marL="0">
              <a:buNone/>
            </a:pPr>
            <a:r>
              <a:rPr lang="en-US" sz="14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be bolted anywhere — Kira is the surface.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unconsolidated. Everyone is positioned differently. Nobody is where we are.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1463040"/>
                <a:gridCol w="1463040"/>
                <a:gridCol w="146304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Competitor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Positioning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Chat-first?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AI agent?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Commerce?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Services?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Caring Village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</a:rPr>
                        <a:t>Medical records dashboard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</a:rPr>
                        <a:t>Julia (tab)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Lotsa Helping Hands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</a:rPr>
                        <a:t>Community-based scheduler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CaringBridge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</a:rPr>
                        <a:t>Journal + GoFundMe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ianacare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</a:rPr>
                        <a:t>B2B2C, employer-sold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A7517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</a:rPr>
                        <a:t>Human (not AI)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355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861"/>
                          </a:solidFill>
                        </a:rPr>
                        <a:t>CrewCares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5861"/>
                          </a:solidFill>
                        </a:rPr>
                        <a:t>Chat-first, Kira is primary input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6D1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6D11"/>
                          </a:solidFill>
                        </a:rPr>
                        <a:t>Yes (home)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6D1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6D1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CrewCares competitive analysis, April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+ 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TAM, multi-line revenue. Subscription primary.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303520" cy="100584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11680"/>
            <a:ext cx="73152" cy="1005840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77440" y="2286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family caregiving software + services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5303520" cy="100584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246120"/>
            <a:ext cx="73152" cy="1005840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377440" y="3520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 caregivers, US + Canada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5303520" cy="100584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480560"/>
            <a:ext cx="73152" cy="1005840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17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377440" y="4754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addressable, modest share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lines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514600"/>
            <a:ext cx="5486400" cy="914400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2514600"/>
            <a:ext cx="73152" cy="914400"/>
          </a:xfrm>
          <a:prstGeom prst="rect">
            <a:avLst/>
          </a:prstGeom>
          <a:solidFill>
            <a:srgbClr val="4395A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944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$8-12 / crew / month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Primary. Family of 4+ shares one plan.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566160"/>
            <a:ext cx="5486400" cy="914400"/>
          </a:xfrm>
          <a:prstGeom prst="rect">
            <a:avLst/>
          </a:prstGeom>
          <a:solidFill>
            <a:srgbClr val="FEF3E3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566160"/>
            <a:ext cx="73152" cy="9144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(Amazon)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3995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~$3.80 / active crew / month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0" y="3703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Context-driven product recs, fully disclosed.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617720"/>
            <a:ext cx="5486400" cy="91440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4617720"/>
            <a:ext cx="73152" cy="9144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(Thumbtack)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0" y="5047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~$66 / active crew / year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418320" y="4754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mods, grab bars, aging-in-place.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50K crews: </a:t>
            </a:r>
            <a:pPr algn="ctr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~$5.8M ARR blended. Subscription is primary revenue at every scale.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CrewCares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58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9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18-month runway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3657600" cy="14630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backend · Kira v1 · ship iOS + Android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3840480"/>
            <a:ext cx="3657600" cy="14630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8912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10K crews · content · caregiver partnerships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3840480"/>
            <a:ext cx="3657600" cy="14630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210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&amp; ops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tools, contractors, founder salary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112471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806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O'Malley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Highlands Ranch, CO · built CrewCares after caring for his own parents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5989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brent@crewcares.com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CrewCares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CrewCares — Seed Deck</dc:title>
  <dc:subject>Caregiving coordination, reimagined</dc:subject>
  <dc:creator>Brent O'Malley</dc:creator>
  <cp:lastModifiedBy>Brent O'Malley</cp:lastModifiedBy>
  <cp:revision>1</cp:revision>
  <dcterms:created xsi:type="dcterms:W3CDTF">2026-04-18T18:06:23Z</dcterms:created>
  <dcterms:modified xsi:type="dcterms:W3CDTF">2026-04-18T18:06:23Z</dcterms:modified>
</cp:coreProperties>
</file>